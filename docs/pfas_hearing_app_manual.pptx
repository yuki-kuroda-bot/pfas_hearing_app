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b5ee3cb4aa14463" /><Relationship Type="http://schemas.openxmlformats.org/officeDocument/2006/relationships/extended-properties" Target="/docProps/app.xml" Id="R269d3ba5564b4fe0" /><Relationship Type="http://schemas.openxmlformats.org/officeDocument/2006/relationships/officeDocument" Target="/ppt/presentation.xml" Id="R82fe20580d7c405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02a44a511c941b2"/>
  </p:sldMasterIdLst>
  <p:notesMasterIdLst>
    <p:notesMasterId xmlns:r="http://schemas.openxmlformats.org/officeDocument/2006/relationships" r:id="Re4c37a1289aa44f2"/>
  </p:notesMasterIdLst>
  <p:sldIdLst>
    <p:sldId xmlns:r="http://schemas.openxmlformats.org/officeDocument/2006/relationships" id="256" r:id="R656f8aec78ff46fd"/>
    <p:sldId xmlns:r="http://schemas.openxmlformats.org/officeDocument/2006/relationships" id="257" r:id="R64a71659356b4e81"/>
    <p:sldId xmlns:r="http://schemas.openxmlformats.org/officeDocument/2006/relationships" id="258" r:id="R81eeee9c02e744ad"/>
    <p:sldId xmlns:r="http://schemas.openxmlformats.org/officeDocument/2006/relationships" id="259" r:id="R69a272a688c04692"/>
    <p:sldId xmlns:r="http://schemas.openxmlformats.org/officeDocument/2006/relationships" id="260" r:id="R21e87cd29183400a"/>
    <p:sldId xmlns:r="http://schemas.openxmlformats.org/officeDocument/2006/relationships" id="261" r:id="R40c0fa7a60064035"/>
    <p:sldId xmlns:r="http://schemas.openxmlformats.org/officeDocument/2006/relationships" id="262" r:id="Re47ddbf8e18941cf"/>
    <p:sldId xmlns:r="http://schemas.openxmlformats.org/officeDocument/2006/relationships" id="263" r:id="Rc7d2ca2b7df44a53"/>
    <p:sldId xmlns:r="http://schemas.openxmlformats.org/officeDocument/2006/relationships" id="264" r:id="R6aa299a4c5814be7"/>
    <p:sldId xmlns:r="http://schemas.openxmlformats.org/officeDocument/2006/relationships" id="265" r:id="R7041c8f2105045d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2a44a511c941b2" /><Relationship Type="http://schemas.openxmlformats.org/officeDocument/2006/relationships/theme" Target="/ppt/theme/theme1.xml" Id="R6467fa31196f4b71" /><Relationship Type="http://schemas.openxmlformats.org/officeDocument/2006/relationships/notesMaster" Target="/ppt/notesMasters/notesMaster1.xml" Id="Re4c37a1289aa44f2" /><Relationship Type="http://schemas.openxmlformats.org/officeDocument/2006/relationships/presProps" Target="/ppt/presProps.xml" Id="R4f4ae06af7b046b2" /><Relationship Type="http://schemas.openxmlformats.org/officeDocument/2006/relationships/viewProps" Target="/ppt/viewProps.xml" Id="Rf1662db4e3074037" /><Relationship Type="http://schemas.openxmlformats.org/officeDocument/2006/relationships/tableStyles" Target="/ppt/tableStyles.xml" Id="R490d7239316047bd" /><Relationship Type="http://schemas.openxmlformats.org/officeDocument/2006/relationships/slide" Target="/ppt/slides/slide1.xml" Id="R656f8aec78ff46fd" /><Relationship Type="http://schemas.openxmlformats.org/officeDocument/2006/relationships/slide" Target="/ppt/slides/slide2.xml" Id="R64a71659356b4e81" /><Relationship Type="http://schemas.openxmlformats.org/officeDocument/2006/relationships/slide" Target="/ppt/slides/slide3.xml" Id="R81eeee9c02e744ad" /><Relationship Type="http://schemas.openxmlformats.org/officeDocument/2006/relationships/slide" Target="/ppt/slides/slide4.xml" Id="R69a272a688c04692" /><Relationship Type="http://schemas.openxmlformats.org/officeDocument/2006/relationships/slide" Target="/ppt/slides/slide5.xml" Id="R21e87cd29183400a" /><Relationship Type="http://schemas.openxmlformats.org/officeDocument/2006/relationships/slide" Target="/ppt/slides/slide6.xml" Id="R40c0fa7a60064035" /><Relationship Type="http://schemas.openxmlformats.org/officeDocument/2006/relationships/slide" Target="/ppt/slides/slide7.xml" Id="Re47ddbf8e18941cf" /><Relationship Type="http://schemas.openxmlformats.org/officeDocument/2006/relationships/slide" Target="/ppt/slides/slide8.xml" Id="Rc7d2ca2b7df44a53" /><Relationship Type="http://schemas.openxmlformats.org/officeDocument/2006/relationships/slide" Target="/ppt/slides/slide9.xml" Id="R6aa299a4c5814be7" /><Relationship Type="http://schemas.openxmlformats.org/officeDocument/2006/relationships/slide" Target="/ppt/slides/slide10.xml" Id="R7041c8f2105045d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fdbd833b2e2f452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70e1687c51846b3" /><Relationship Type="http://schemas.openxmlformats.org/officeDocument/2006/relationships/notesMaster" Target="/ppt/notesMasters/notesMaster1.xml" Id="Rbe2a098f03ac4fc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0eb300676224f86" /><Relationship Type="http://schemas.openxmlformats.org/officeDocument/2006/relationships/notesMaster" Target="/ppt/notesMasters/notesMaster1.xml" Id="R3fa44bacfb3149f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a03185a9c464047" /><Relationship Type="http://schemas.openxmlformats.org/officeDocument/2006/relationships/notesMaster" Target="/ppt/notesMasters/notesMaster1.xml" Id="Rb4a3ce64fc02469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8168eb054364bc7" /><Relationship Type="http://schemas.openxmlformats.org/officeDocument/2006/relationships/notesMaster" Target="/ppt/notesMasters/notesMaster1.xml" Id="R363083af5a414e3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a27409de99c4f72" /><Relationship Type="http://schemas.openxmlformats.org/officeDocument/2006/relationships/notesMaster" Target="/ppt/notesMasters/notesMaster1.xml" Id="R4eebbc854e834bf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4443528ba5d4648" /><Relationship Type="http://schemas.openxmlformats.org/officeDocument/2006/relationships/notesMaster" Target="/ppt/notesMasters/notesMaster1.xml" Id="R4ecbf410a0914d5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69990a055664dfd" /><Relationship Type="http://schemas.openxmlformats.org/officeDocument/2006/relationships/notesMaster" Target="/ppt/notesMasters/notesMaster1.xml" Id="R99dea5b9cb0f423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079b34f32754fd1" /><Relationship Type="http://schemas.openxmlformats.org/officeDocument/2006/relationships/notesMaster" Target="/ppt/notesMasters/notesMaster1.xml" Id="Rabd38fa2ceff41a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b482d7e94c642cd" /><Relationship Type="http://schemas.openxmlformats.org/officeDocument/2006/relationships/notesMaster" Target="/ppt/notesMasters/notesMaster1.xml" Id="R76cca69bf08c43d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914cbbf3cff48a2" /><Relationship Type="http://schemas.openxmlformats.org/officeDocument/2006/relationships/notesMaster" Target="/ppt/notesMasters/notesMaster1.xml" Id="Rba609aa49771454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8cbbb3a1a140c0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95c8338ade1a4b11" /><Relationship Type="http://schemas.openxmlformats.org/officeDocument/2006/relationships/slideLayout" Target="/ppt/slideLayouts/slideLayout2.xml" Id="Rc0d0178634e946e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0d0178634e946e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03b6b50f3be4c62" /><Relationship Type="http://schemas.openxmlformats.org/officeDocument/2006/relationships/notesSlide" Target="/ppt/notesSlides/notesSlide1.xml" Id="Rbfde94fbf25b45e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deb4dbe3d3445e4" /><Relationship Type="http://schemas.openxmlformats.org/officeDocument/2006/relationships/notesSlide" Target="/ppt/notesSlides/notesSlide2.xml" Id="R5157ab73047d4a5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457ab8205d04fc7" /><Relationship Type="http://schemas.openxmlformats.org/officeDocument/2006/relationships/notesSlide" Target="/ppt/notesSlides/notesSlide3.xml" Id="R163c6d2f99b6463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6100337e8e34f33" /><Relationship Type="http://schemas.openxmlformats.org/officeDocument/2006/relationships/notesSlide" Target="/ppt/notesSlides/notesSlide4.xml" Id="Rdcc1666aa3b14ff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c534873bf574a72" /><Relationship Type="http://schemas.openxmlformats.org/officeDocument/2006/relationships/notesSlide" Target="/ppt/notesSlides/notesSlide5.xml" Id="R57eb9f5372f6442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dfa17cbea384f08" /><Relationship Type="http://schemas.openxmlformats.org/officeDocument/2006/relationships/notesSlide" Target="/ppt/notesSlides/notesSlide6.xml" Id="Rf6799eed3f8348d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9f214e3cc944bca" /><Relationship Type="http://schemas.openxmlformats.org/officeDocument/2006/relationships/notesSlide" Target="/ppt/notesSlides/notesSlide7.xml" Id="R1ae1c2be3f09411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4b2b982cc9742f8" /><Relationship Type="http://schemas.openxmlformats.org/officeDocument/2006/relationships/notesSlide" Target="/ppt/notesSlides/notesSlide8.xml" Id="R6733040718b946c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90c86e936614f6a" /><Relationship Type="http://schemas.openxmlformats.org/officeDocument/2006/relationships/notesSlide" Target="/ppt/notesSlides/notesSlide9.xml" Id="Rec26b1f4c1f74e4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5414235aeae441f" /><Relationship Type="http://schemas.openxmlformats.org/officeDocument/2006/relationships/notesSlide" Target="/ppt/notesSlides/notesSlide10.xml" Id="Rb782aaf3fee44ae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F169524-610F-4D56-9574-4EB62BA0D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1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51C260-00A9-48F0-A567-53F51211B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43000"/>
            <a:ext cx="7239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PFAS入口ヒアリング管理アプリ</a:t>
            </a:r>
          </a:p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使い方マニュアル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CC5E39-9DC0-473D-B5F5-19E834CFA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57500"/>
            <a:ext cx="7048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DE7E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CDE7E2"/>
                </a:solidFill>
                <a:latin typeface="Aptos"/>
                <a:ea typeface="Aptos"/>
                <a:cs typeface="Aptos"/>
              </a:rPr>
              <a:t>中学生でも分かるように、どこに何を入力するかを順番に説明します。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E02664-CC9A-49C5-A641-AC9CF524F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047750"/>
            <a:ext cx="28575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F1"/>
          </a:solidFill>
          <a:ln xmlns:a="http://schemas.openxmlformats.org/drawingml/2006/main" w="19050">
            <a:solidFill>
              <a:srgbClr val="B9DDD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B57332-8DB2-4603-BA63-DF11B7995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42875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313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5313A"/>
                </a:solidFill>
                <a:latin typeface="Aptos"/>
                <a:ea typeface="Aptos"/>
                <a:cs typeface="Aptos"/>
              </a:rPr>
              <a:t>このアプリでできること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DA8545-76C9-4608-89D6-B84D3234B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952625"/>
            <a:ext cx="2095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5313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5313A"/>
                </a:solidFill>
                <a:latin typeface="Aptos"/>
                <a:ea typeface="Aptos"/>
                <a:cs typeface="Aptos"/>
              </a:rPr>
              <a:t>1 顧客ごとに記録</a:t>
            </a:r>
          </a:p>
          <a:p xmlns:a="http://schemas.openxmlformats.org/drawingml/2006/main">
            <a:pPr algn="l">
              <a:defRPr sz="1800" b="0">
                <a:solidFill>
                  <a:srgbClr val="15313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5313A"/>
                </a:solidFill>
                <a:latin typeface="Aptos"/>
                <a:ea typeface="Aptos"/>
                <a:cs typeface="Aptos"/>
              </a:rPr>
              <a:t>2 A/B/Cで分類</a:t>
            </a:r>
          </a:p>
          <a:p xmlns:a="http://schemas.openxmlformats.org/drawingml/2006/main">
            <a:pPr algn="l">
              <a:defRPr sz="1800" b="0">
                <a:solidFill>
                  <a:srgbClr val="15313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5313A"/>
                </a:solidFill>
                <a:latin typeface="Aptos"/>
                <a:ea typeface="Aptos"/>
                <a:cs typeface="Aptos"/>
              </a:rPr>
              <a:t>3 次アクションを管理</a:t>
            </a:r>
          </a:p>
          <a:p xmlns:a="http://schemas.openxmlformats.org/drawingml/2006/main">
            <a:pPr algn="l">
              <a:defRPr sz="1800" b="0">
                <a:solidFill>
                  <a:srgbClr val="15313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5313A"/>
                </a:solidFill>
                <a:latin typeface="Aptos"/>
                <a:ea typeface="Aptos"/>
                <a:cs typeface="Aptos"/>
              </a:rPr>
              <a:t>4 グラフで分析</a:t>
            </a:r>
          </a:p>
          <a:p xmlns:a="http://schemas.openxmlformats.org/drawingml/2006/main">
            <a:pPr algn="l">
              <a:defRPr sz="1800" b="0">
                <a:solidFill>
                  <a:srgbClr val="15313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5313A"/>
                </a:solidFill>
                <a:latin typeface="Aptos"/>
                <a:ea typeface="Aptos"/>
                <a:cs typeface="Aptos"/>
              </a:rPr>
              <a:t>5 Excelに出力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61A470-1A13-490F-820D-534E04D40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0075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7D8D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7D8D1"/>
                </a:solidFill>
                <a:latin typeface="Aptos"/>
                <a:ea typeface="Aptos"/>
                <a:cs typeface="Aptos"/>
              </a:rPr>
              <a:t>2026-05-11</a:t>
            </a:r>
          </a:p>
        </p:txBody>
      </p:sp>
    </p:spTree>
    <p:extLst>
      <p:ext uri="{BB962C8B-B14F-4D97-AF65-F5344CB8AC3E}">
        <p14:creationId xmlns:p14="http://schemas.microsoft.com/office/powerpoint/2010/main" val="121512791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099619E-1C39-4D59-8FE2-ED11CEEE0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4953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313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5313A"/>
                </a:solidFill>
                <a:latin typeface="Aptos Display"/>
                <a:ea typeface="Aptos Display"/>
                <a:cs typeface="Aptos Display"/>
              </a:rPr>
              <a:t>全体の流れ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3BACB1-6F55-4792-8296-8F3839819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714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F1"/>
          </a:solidFill>
          <a:ln xmlns:a="http://schemas.openxmlformats.org/drawingml/2006/main" w="19050">
            <a:solidFill>
              <a:srgbClr val="B9CDD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2861DE-8F8B-47A3-A776-C5EA9AF75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288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D27410-F3C3-47B5-A450-0C4CBC9A7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85950"/>
            <a:ext cx="400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40A2B6-A42C-4C83-A860-A2C7B3CA2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28875"/>
            <a:ext cx="1381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313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5313A"/>
                </a:solidFill>
                <a:latin typeface="Aptos"/>
                <a:ea typeface="Aptos"/>
                <a:cs typeface="Aptos"/>
              </a:rPr>
              <a:t>新規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95CFC9-D12B-492C-87BE-2A5C2BCCA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13811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新しい顧客カードを作る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704F56-82ED-433F-AB2D-6D8C924C2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619250"/>
            <a:ext cx="1714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9050">
            <a:solidFill>
              <a:srgbClr val="B9CDD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4905B3-A911-44AD-ABA8-4E7C26E97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18288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084D76-CE95-4003-9CA9-0CA3C32D3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1885950"/>
            <a:ext cx="400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63C52F-B1C4-4330-9D79-F6260E5DE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2428875"/>
            <a:ext cx="1381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313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5313A"/>
                </a:solidFill>
                <a:latin typeface="Aptos"/>
                <a:ea typeface="Aptos"/>
                <a:cs typeface="Aptos"/>
              </a:rPr>
              <a:t>顧客情報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B77950-D756-4FC3-A721-F514E7D42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2857500"/>
            <a:ext cx="13811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顧客名、施設種別、担当者を入れる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648E66-E4BA-4076-A5B5-071A25B51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619250"/>
            <a:ext cx="1714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F1"/>
          </a:solidFill>
          <a:ln xmlns:a="http://schemas.openxmlformats.org/drawingml/2006/main" w="19050">
            <a:solidFill>
              <a:srgbClr val="B9CDD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91D924-346A-4F1D-982D-548F2B33F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8288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E67782-7184-4E04-B979-78A6784C1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885950"/>
            <a:ext cx="400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1E51D0-3EC9-4990-A5F2-1CB147834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428875"/>
            <a:ext cx="1381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313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5313A"/>
                </a:solidFill>
                <a:latin typeface="Aptos"/>
                <a:ea typeface="Aptos"/>
                <a:cs typeface="Aptos"/>
              </a:rPr>
              <a:t>ヒアリング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AAF7E9-28EF-4932-B87B-3DB79D397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857500"/>
            <a:ext cx="13811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PFAS、脱水、リン・窒素、設備を聞く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252591-BA8E-4E66-80C2-B7638344A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619250"/>
            <a:ext cx="1714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9050">
            <a:solidFill>
              <a:srgbClr val="B9CDD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468684-DC3E-4381-84C1-D84869CCC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18288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9B22B2-AFC0-41B4-8CEF-EEC73D0B6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1885950"/>
            <a:ext cx="400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2B4FD8-81CB-4F4F-B9B0-47A7E6E1B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428875"/>
            <a:ext cx="1381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313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5313A"/>
                </a:solidFill>
                <a:latin typeface="Aptos"/>
                <a:ea typeface="Aptos"/>
                <a:cs typeface="Aptos"/>
              </a:rPr>
              <a:t>判定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A06946-8AFE-4891-A1CB-0EB8192AF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857500"/>
            <a:ext cx="13811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A/B/Cと次アクションを決める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E70657-80D3-46FF-A73D-FF4D23B64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619250"/>
            <a:ext cx="1714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F1"/>
          </a:solidFill>
          <a:ln xmlns:a="http://schemas.openxmlformats.org/drawingml/2006/main" w="19050">
            <a:solidFill>
              <a:srgbClr val="B9CDD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EE2BFB-1457-4432-A754-83F171EF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8288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35623F-39F2-45FC-99B5-9EAF63799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885950"/>
            <a:ext cx="400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533B12-05FA-48E8-A0B6-E0A9B8380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428875"/>
            <a:ext cx="1381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313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5313A"/>
                </a:solidFill>
                <a:latin typeface="Aptos"/>
                <a:ea typeface="Aptos"/>
                <a:cs typeface="Aptos"/>
              </a:rPr>
              <a:t>出力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B64678-918B-488F-84F7-BAE50C952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857500"/>
            <a:ext cx="13811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CSV、Excel、JSON、印刷で共有する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409895F-E767-4736-A0D3-F190BC086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76750"/>
            <a:ext cx="10096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5313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5313A"/>
                </a:solidFill>
                <a:latin typeface="Aptos"/>
                <a:ea typeface="Aptos"/>
                <a:cs typeface="Aptos"/>
              </a:rPr>
              <a:t>まずは売り込みではなく、困りごとを聞くために使います。入力が増えるほど、どの顧客から次に進めるかが見えます。</a:t>
            </a:r>
          </a:p>
        </p:txBody>
      </p:sp>
    </p:spTree>
    <p:extLst>
      <p:ext uri="{BB962C8B-B14F-4D97-AF65-F5344CB8AC3E}">
        <p14:creationId xmlns:p14="http://schemas.microsoft.com/office/powerpoint/2010/main" val="210381103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386572-D1A8-446D-842A-204B4A6AF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313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5313A"/>
                </a:solidFill>
                <a:latin typeface="Aptos Display"/>
                <a:ea typeface="Aptos Display"/>
                <a:cs typeface="Aptos Display"/>
              </a:rPr>
              <a:t>画面左側: 顧客を探す場所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31D873-5864-4F6C-BE71-D23E47FDA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38250"/>
            <a:ext cx="295275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5E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706AE8-8A3E-4676-AEA2-2836CCA66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2400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検索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C09F45-A2D2-4709-AABF-1B988F449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57375"/>
            <a:ext cx="2190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DA2BC2-8C20-4855-A758-98843F1D9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52625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顧客名・施設名で探す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03E1F8-361F-4118-971C-E4CFB4C7A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76500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分類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70C4DB-A8F3-4B1C-86AB-7FA4844E2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781300"/>
            <a:ext cx="857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F1"/>
          </a:solidFill>
          <a:ln xmlns:a="http://schemas.openxmlformats.org/drawingml/2006/main" w="9525">
            <a:solidFill>
              <a:srgbClr val="B9DDD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A34B26-65C0-49FD-880A-B490A153C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76550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531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5313A"/>
                </a:solidFill>
                <a:latin typeface="Aptos"/>
                <a:ea typeface="Aptos"/>
                <a:cs typeface="Aptos"/>
              </a:rPr>
              <a:t>A/B/C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2592EE-340C-426D-BEDC-72C37FDDE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4290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顧客カード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37CBAE-59B1-4EFC-8D63-E328F3C8E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1000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F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7B6A98-BB4C-4777-A28D-295FEEC9B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14775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313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5313A"/>
                </a:solidFill>
                <a:latin typeface="Aptos"/>
                <a:ea typeface="Aptos"/>
                <a:cs typeface="Aptos"/>
              </a:rPr>
              <a:t>A処理場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86F482-7683-44B0-B7A9-E400391FD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0055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4DA5EF-E82D-4B5E-9E16-D94992A96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05325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313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5313A"/>
                </a:solidFill>
                <a:latin typeface="Aptos"/>
                <a:ea typeface="Aptos"/>
                <a:cs typeface="Aptos"/>
              </a:rPr>
              <a:t>B衛生センター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912491-23F5-46F6-B4C3-80C5F0EF1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99110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99D2ED-9BDE-4D8B-BDA2-80B6DA54C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95875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313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5313A"/>
                </a:solidFill>
                <a:latin typeface="Aptos"/>
                <a:ea typeface="Aptos"/>
                <a:cs typeface="Aptos"/>
              </a:rPr>
              <a:t>C浄化槽施設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267CED-CB4E-4BF7-ACE7-D912741F2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240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検索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197D46-8C17-4568-A322-0961C35B5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85950"/>
            <a:ext cx="6286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顧客名、施設種別、次アクションを探す場所です。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458F0D-1FDE-4DD1-8D4C-289C51908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14625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分類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B0B31C-6A5A-48E9-98BB-3AD7F1ED2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76575"/>
            <a:ext cx="6286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Aだけ、Bだけのように絞り込めます。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44ED78-8A62-4E91-BC3D-E1B9934AA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90525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顧客カード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8949E8-C177-413E-A228-E3B48EB40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6286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クリックすると、その顧客の入力画面が開きます。</a:t>
            </a:r>
          </a:p>
        </p:txBody>
      </p:sp>
    </p:spTree>
    <p:extLst>
      <p:ext uri="{BB962C8B-B14F-4D97-AF65-F5344CB8AC3E}">
        <p14:creationId xmlns:p14="http://schemas.microsoft.com/office/powerpoint/2010/main" val="148008367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C25C02A-3444-429B-A2B2-49F5B4AA6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313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5313A"/>
                </a:solidFill>
                <a:latin typeface="Aptos Display"/>
                <a:ea typeface="Aptos Display"/>
                <a:cs typeface="Aptos Display"/>
              </a:rPr>
              <a:t>顧客情報: 最初に入れる内容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D349F9-4161-4B0D-8EAE-8B440C461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85875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F1"/>
          </a:solidFill>
          <a:ln xmlns:a="http://schemas.openxmlformats.org/drawingml/2006/main" w="9525">
            <a:solidFill>
              <a:srgbClr val="B9DDD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4755BB-C770-4B48-A43F-0C9C76EDB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419225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313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5313A"/>
                </a:solidFill>
                <a:latin typeface="Aptos"/>
                <a:ea typeface="Aptos"/>
                <a:cs typeface="Aptos"/>
              </a:rPr>
              <a:t>顧客名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59C9EC-6E3F-4C0B-B667-65A7BA94B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285875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FA8746-3D02-4ECB-9707-624C07D17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428750"/>
            <a:ext cx="666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施設や会社の名前。例: ○○浄化センター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5B2E6E-CFB4-4F31-A227-02B2C3F85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05025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F1"/>
          </a:solidFill>
          <a:ln xmlns:a="http://schemas.openxmlformats.org/drawingml/2006/main" w="9525">
            <a:solidFill>
              <a:srgbClr val="B9DDD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275732-D0D6-4D90-8271-BA8A3E4DE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38375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313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5313A"/>
                </a:solidFill>
                <a:latin typeface="Aptos"/>
                <a:ea typeface="Aptos"/>
                <a:cs typeface="Aptos"/>
              </a:rPr>
              <a:t>施設種別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9336FA-F0BF-471A-8B6F-BCFBC01A3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105025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CF37F0-27CE-449A-BB11-3CE908FBE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247900"/>
            <a:ext cx="666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下水処理場、し尿処理場、浄化槽関連などから選ぶ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ECB266-67D9-4F4A-96C6-EE49FF516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24175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F1"/>
          </a:solidFill>
          <a:ln xmlns:a="http://schemas.openxmlformats.org/drawingml/2006/main" w="9525">
            <a:solidFill>
              <a:srgbClr val="B9DDD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B29D78-8CCB-4866-92B0-9C947823B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057525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313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5313A"/>
                </a:solidFill>
                <a:latin typeface="Aptos"/>
                <a:ea typeface="Aptos"/>
                <a:cs typeface="Aptos"/>
              </a:rPr>
              <a:t>担当者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995512-E998-40CD-8FD8-D1EDAD3E5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24175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25B8A7-8322-4FB7-AD6C-41F971429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067050"/>
            <a:ext cx="666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相手の担当者名。分からなければ空欄でよい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837A59-FF00-4813-A531-41EB2433A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43325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F1"/>
          </a:solidFill>
          <a:ln xmlns:a="http://schemas.openxmlformats.org/drawingml/2006/main" w="9525">
            <a:solidFill>
              <a:srgbClr val="B9DDD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83AD7B-84F2-4E46-89CD-9866EB304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876675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313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5313A"/>
                </a:solidFill>
                <a:latin typeface="Aptos"/>
                <a:ea typeface="Aptos"/>
                <a:cs typeface="Aptos"/>
              </a:rPr>
              <a:t>ヒアリング日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5CE7DE-F7CD-409B-A742-12318F60A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743325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D014AE-C671-4245-AEFF-D013D1728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886200"/>
            <a:ext cx="666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話を聞いた日。あとで追跡しやすくする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ECF85F-FF0E-4A15-9084-907A256BA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62475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F1"/>
          </a:solidFill>
          <a:ln xmlns:a="http://schemas.openxmlformats.org/drawingml/2006/main" w="9525">
            <a:solidFill>
              <a:srgbClr val="B9DDD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0199FE-25F1-4EA4-A7DD-F371472A7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695825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313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5313A"/>
                </a:solidFill>
                <a:latin typeface="Aptos"/>
                <a:ea typeface="Aptos"/>
                <a:cs typeface="Aptos"/>
              </a:rPr>
              <a:t>次アクション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D8135B-9FF8-4D2A-8E8B-E591B6831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562475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074BCB-9F93-4559-B3BA-ECFBE1258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705350"/>
            <a:ext cx="666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次に何をするか。例: PFAS分析見積、脱水ケーキ調査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FF6CA1-1CC6-41D9-B63E-C36856ECA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990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DBA7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876D52-4250-49A7-B848-CCC3D55E1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772150"/>
            <a:ext cx="942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A341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9A3412"/>
                </a:solidFill>
                <a:latin typeface="Aptos"/>
                <a:ea typeface="Aptos"/>
                <a:cs typeface="Aptos"/>
              </a:rPr>
              <a:t>ポイント: まず全部を完璧に埋めようとしなくて大丈夫です。顧客名、施設種別、次アクションだけでも管理に使えます。</a:t>
            </a:r>
          </a:p>
        </p:txBody>
      </p:sp>
    </p:spTree>
    <p:extLst>
      <p:ext uri="{BB962C8B-B14F-4D97-AF65-F5344CB8AC3E}">
        <p14:creationId xmlns:p14="http://schemas.microsoft.com/office/powerpoint/2010/main" val="42482802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4DBBE82-29C8-44BF-8024-16A802C9F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313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5313A"/>
                </a:solidFill>
                <a:latin typeface="Aptos Display"/>
                <a:ea typeface="Aptos Display"/>
                <a:cs typeface="Aptos Display"/>
              </a:rPr>
              <a:t>ヒアリング項目: 何を聞くか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82705C-54AA-4ED8-B516-5E1D58584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81125"/>
            <a:ext cx="44767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5E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258AAF-10AB-410C-903C-169DDF49F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81125"/>
            <a:ext cx="4476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E168FF-B070-4A38-BA12-EB797C0F7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495425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PFAS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B5883C-7CB8-4F28-B97A-A153A4D2A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66925"/>
            <a:ext cx="400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確認を求められたか、測定したことがあるか、情報提供を希望するか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F236B9-E4CE-404D-AE19-51711E0A3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381125"/>
            <a:ext cx="44767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1D5773-B3AD-4462-A474-7DB5B8360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381125"/>
            <a:ext cx="4476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476C6C-F436-48DD-ABAD-A6B61DA31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495425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水質・汚泥・脱水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F2E686-CC9C-43A4-B1DC-15A3A9577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066925"/>
            <a:ext cx="400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含水率、汚泥処分費、薬品使用量で困っているか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18C726-23E6-4234-882A-A98A80C50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81375"/>
            <a:ext cx="44767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EBC8E2-1551-4993-A117-562397E10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81375"/>
            <a:ext cx="4476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1BF0C6-2A0C-4625-8B52-E7E63E367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95675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リン・窒素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28501A-EA3F-4C13-8D3C-85B8DE43F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67175"/>
            <a:ext cx="400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リン、窒素、アンモニアで管理値に近づくことがあるか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93E877-942A-4300-96C3-3D99219A4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381375"/>
            <a:ext cx="44767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E70CC8-6302-43C5-8B96-8A0AA9C62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381375"/>
            <a:ext cx="4476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1629CE-2930-4579-AC84-CCEEDF135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495675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設備・省エネ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057E71-2770-4A9E-B82B-8984AA406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067175"/>
            <a:ext cx="400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薬注設備、ブロワ、ポンプ、臭気設備が古くないか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00428E-731B-42D2-827B-B8B40EA06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9906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5313A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5313A"/>
                </a:solidFill>
                <a:latin typeface="Aptos"/>
                <a:ea typeface="Aptos"/>
                <a:cs typeface="Aptos"/>
              </a:rPr>
              <a:t>選択肢は「不明」「なし」「あり」のように簡単に選びます。長文を打たなくても、後で分析しやすくなります。</a:t>
            </a:r>
          </a:p>
        </p:txBody>
      </p:sp>
    </p:spTree>
    <p:extLst>
      <p:ext uri="{BB962C8B-B14F-4D97-AF65-F5344CB8AC3E}">
        <p14:creationId xmlns:p14="http://schemas.microsoft.com/office/powerpoint/2010/main" val="85760790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CE38FCD-EBEC-4AA6-8460-567644CD0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857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313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5313A"/>
                </a:solidFill>
                <a:latin typeface="Aptos Display"/>
                <a:ea typeface="Aptos Display"/>
                <a:cs typeface="Aptos Display"/>
              </a:rPr>
              <a:t>A/B/C分類: 次に進む顧客を決める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23FB82-4B58-4C75-AA1E-081ACB024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81125"/>
            <a:ext cx="952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19050">
            <a:solidFill>
              <a:srgbClr val="04785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ED5528-7366-490D-AB08-A0D749BE9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33525"/>
            <a:ext cx="952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91B553-20DC-41F9-8C8C-FDCD05E08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457325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5313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5313A"/>
                </a:solidFill>
                <a:latin typeface="Aptos"/>
                <a:ea typeface="Aptos"/>
                <a:cs typeface="Aptos"/>
              </a:rPr>
              <a:t>すぐ次へ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E2A68D-511A-424A-8A65-D9AA4A6DF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876425"/>
            <a:ext cx="723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分析見積、薬品テスト、設備相談へ進む顧客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F6AAB1-8CF9-429D-B12C-A5707978D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62250"/>
            <a:ext cx="952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19050">
            <a:solidFill>
              <a:srgbClr val="B4530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6E63B2-B685-486B-8BF3-7B00704DA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14650"/>
            <a:ext cx="952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9E9BC6-5D3D-4481-A80E-BA53594C9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83845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5313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5313A"/>
                </a:solidFill>
                <a:latin typeface="Aptos"/>
                <a:ea typeface="Aptos"/>
                <a:cs typeface="Aptos"/>
              </a:rPr>
              <a:t>情報提供を続ける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5F3033-5752-4AB0-8B47-F728315B4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257550"/>
            <a:ext cx="723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今すぐではないが、定期的に情報を渡す顧客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2B19DF-FE33-4213-81E1-057649399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43375"/>
            <a:ext cx="952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19050">
            <a:solidFill>
              <a:srgbClr val="B91C1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0FE776-41BE-4A8A-A7C0-516B73B68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95775"/>
            <a:ext cx="952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B91C1C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B91C1C"/>
                </a:solidFill>
                <a:latin typeface="Aptos"/>
                <a:ea typeface="Aptos"/>
                <a:cs typeface="Aptos"/>
              </a:rPr>
              <a:t>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8D6F34-3996-405A-9667-488D943CE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219575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5313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5313A"/>
                </a:solidFill>
                <a:latin typeface="Aptos"/>
                <a:ea typeface="Aptos"/>
                <a:cs typeface="Aptos"/>
              </a:rPr>
              <a:t>今回は保留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11F972-6EEF-48A1-AF7D-1F3CD6FCA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638675"/>
            <a:ext cx="723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今は困りごとが少ない、またはタイミングが合わない顧客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F3A7E5-7C24-4474-914C-99136569F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0"/>
            <a:ext cx="9525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F1"/>
          </a:solidFill>
          <a:ln xmlns:a="http://schemas.openxmlformats.org/drawingml/2006/main" w="9525">
            <a:solidFill>
              <a:srgbClr val="B9DDD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8C948B-A875-47A7-B81C-4D38FA1DC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829300"/>
            <a:ext cx="9048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5313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5313A"/>
                </a:solidFill>
                <a:latin typeface="Aptos"/>
                <a:ea typeface="Aptos"/>
                <a:cs typeface="Aptos"/>
              </a:rPr>
              <a:t>迷ったらBにします。Aは、次に見積や調査へ進めそうな顧客だけに付けます。</a:t>
            </a:r>
          </a:p>
        </p:txBody>
      </p:sp>
    </p:spTree>
    <p:extLst>
      <p:ext uri="{BB962C8B-B14F-4D97-AF65-F5344CB8AC3E}">
        <p14:creationId xmlns:p14="http://schemas.microsoft.com/office/powerpoint/2010/main" val="115756566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FEB47D-0DC5-44E0-A436-0AFD8B5BB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904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313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5313A"/>
                </a:solidFill>
                <a:latin typeface="Aptos Display"/>
                <a:ea typeface="Aptos Display"/>
                <a:cs typeface="Aptos Display"/>
              </a:rPr>
              <a:t>分析グラフ: どの顧客を優先するか見る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AAD60F-7EAD-40DB-9A52-583C87A56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0125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アプリ上部の分析グラフでは、入力した顧客を自動で集計します。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6124ED-218E-477B-B238-0601E3D10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31432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E59386-A79C-43CC-BCC9-6B5E9DA74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859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313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5313A"/>
                </a:solidFill>
                <a:latin typeface="Aptos"/>
                <a:ea typeface="Aptos"/>
                <a:cs typeface="Aptos"/>
              </a:rPr>
              <a:t>分類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AEA63C-5335-41C1-B56B-AF6E6544A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28875"/>
            <a:ext cx="9048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A5CB01-A4BB-4A0A-A10E-BA5230A17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476500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618EEB-7C88-41BB-8679-C0703DC0D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428875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CEE2EC-14D8-49EE-8CE9-496C70950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81325"/>
            <a:ext cx="9048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0B9F51-89FC-41FA-8182-F19446942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02895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647CED-65FD-4E89-A22D-16429A5E7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2981325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1662E7-BFEB-4C05-BCDA-49268D67A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33775"/>
            <a:ext cx="9048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67ABD6-8E27-4583-BEBC-8101339AB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581400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E2FB3E-7EC2-44DE-99D3-BA16A5C71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3533775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2872D0-882D-4F97-9966-7633ACA5E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71950"/>
            <a:ext cx="266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Aが多いほど、すぐ動ける顧客が多い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65C55F-E2A5-4856-BEC9-C0CF08CA7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666875"/>
            <a:ext cx="31432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64A610-5965-49B3-9C6B-287CD9F38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8859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313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5313A"/>
                </a:solidFill>
                <a:latin typeface="Aptos"/>
                <a:ea typeface="Aptos"/>
                <a:cs typeface="Aptos"/>
              </a:rPr>
              <a:t>施設種別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15C166-84D2-483D-81A2-F3AE6589C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428875"/>
            <a:ext cx="9048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下水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3DB626-BBD8-4DFA-B939-DD0126BA8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4765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33E0BC-495F-48A2-B94F-DFBA63C6E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428875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2AD779-2A8A-479C-B2FC-48659E2CF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981325"/>
            <a:ext cx="9048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し尿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69D2A0-60D7-4097-A6F8-AB00A408C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028950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5EC45B-572B-4747-A295-364225371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2981325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21AD68-42AC-42E5-95F6-018EFE19E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533775"/>
            <a:ext cx="9048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浄化槽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247EE7-CCE1-4022-A9E4-67EFAAFA2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581400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426F0C-1F29-4E83-94A9-D7CA4D2BB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3533775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58A651-BB72-4861-98A8-42DAF7E16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171950"/>
            <a:ext cx="266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どの施設に話が集まっているか分かる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94BE2A4-2560-4E4E-95B3-4D3B628B1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66875"/>
            <a:ext cx="31432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5E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3E8AD08-F7D1-4938-919B-EEFCC5517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8859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313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5313A"/>
                </a:solidFill>
                <a:latin typeface="Aptos"/>
                <a:ea typeface="Aptos"/>
                <a:cs typeface="Aptos"/>
              </a:rPr>
              <a:t>顧客スコア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497487C-2D88-40C2-B367-518AFB1BC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28875"/>
            <a:ext cx="9048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A処理場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21A8C64-A2FD-4526-A849-0F4142DBB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476500"/>
            <a:ext cx="13811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F6E224F-BDFA-4525-BCFC-627869B9D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428875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0A58A0C-33BF-4EEF-90DD-71F36368E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981325"/>
            <a:ext cx="9048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B衛生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9322692-BB92-4DEA-86DB-94290096C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028950"/>
            <a:ext cx="990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F8C78BC-1D38-4990-88D6-94DCD9FE1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2981325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77705CA-601A-44D5-852A-BDD70A6A2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533775"/>
            <a:ext cx="9048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C施設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02D6BF9-8060-4A49-AA19-1947B6B66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5814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2490C6A-42E5-4D33-AD50-7D870FFF1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3533775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30A9826-9DEB-44D8-A465-6D295FF96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171950"/>
            <a:ext cx="266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点数が高い顧客から訪問する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E980F93-56D2-4FA2-908F-39234DE86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19750"/>
            <a:ext cx="1000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5313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313A"/>
                </a:solidFill>
                <a:latin typeface="Aptos"/>
                <a:ea typeface="Aptos"/>
                <a:cs typeface="Aptos"/>
              </a:rPr>
              <a:t>グラフは入力した顧客データから作られます。まずはダミー顧客で練習してから、実顧客を入力してください。</a:t>
            </a:r>
          </a:p>
        </p:txBody>
      </p:sp>
    </p:spTree>
    <p:extLst>
      <p:ext uri="{BB962C8B-B14F-4D97-AF65-F5344CB8AC3E}">
        <p14:creationId xmlns:p14="http://schemas.microsoft.com/office/powerpoint/2010/main" val="48331157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742666A-7B21-477D-8584-25FF66F50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313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5313A"/>
                </a:solidFill>
                <a:latin typeface="Aptos Display"/>
                <a:ea typeface="Aptos Display"/>
                <a:cs typeface="Aptos Display"/>
              </a:rPr>
              <a:t>データ出力: Excelや表で見る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73DB2D-174E-4AD1-ACAF-E6E58B320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85875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F1"/>
          </a:solidFill>
          <a:ln xmlns:a="http://schemas.openxmlformats.org/drawingml/2006/main" w="9525">
            <a:solidFill>
              <a:srgbClr val="B9DDD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5C6FFB-9197-442A-BDBC-91D9F980C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438275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313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5313A"/>
                </a:solidFill>
                <a:latin typeface="Aptos"/>
                <a:ea typeface="Aptos"/>
                <a:cs typeface="Aptos"/>
              </a:rPr>
              <a:t>CSV出力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1A7B47-5B41-415C-A1B3-EDE2FB349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428750"/>
            <a:ext cx="6572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Excelやスプレッドシートに取り込める基本形式です。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FC8383-E4D1-4BA8-A5A2-8419D1555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F1"/>
          </a:solidFill>
          <a:ln xmlns:a="http://schemas.openxmlformats.org/drawingml/2006/main" w="9525">
            <a:solidFill>
              <a:srgbClr val="B9DDD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E9E780-C920-4588-A4CF-53EDC3901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431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313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5313A"/>
                </a:solidFill>
                <a:latin typeface="Aptos"/>
                <a:ea typeface="Aptos"/>
                <a:cs typeface="Aptos"/>
              </a:rPr>
              <a:t>Excel出力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3D2FB9-4082-4240-8C8A-8AD4D8B2A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333625"/>
            <a:ext cx="6572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Excelでそのまま開きやすい .xls 形式で出力します。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62AAA7-92DC-4101-84EC-D1657783B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95625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F1"/>
          </a:solidFill>
          <a:ln xmlns:a="http://schemas.openxmlformats.org/drawingml/2006/main" w="9525">
            <a:solidFill>
              <a:srgbClr val="B9DDD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5E8ABA-E0BB-4F64-832F-63C10E0F3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48025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313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5313A"/>
                </a:solidFill>
                <a:latin typeface="Aptos"/>
                <a:ea typeface="Aptos"/>
                <a:cs typeface="Aptos"/>
              </a:rPr>
              <a:t>JSON出力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3416A0-87C4-473F-89A7-AE36BF311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238500"/>
            <a:ext cx="6572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バックアップや将来の本格アプリ化に使えます。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FC44C3-020B-4DCA-9152-6540E9AEF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F1"/>
          </a:solidFill>
          <a:ln xmlns:a="http://schemas.openxmlformats.org/drawingml/2006/main" w="9525">
            <a:solidFill>
              <a:srgbClr val="B9DDD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F36C75-112A-4B5E-897F-9B1F4B397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529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313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5313A"/>
                </a:solidFill>
                <a:latin typeface="Aptos"/>
                <a:ea typeface="Aptos"/>
                <a:cs typeface="Aptos"/>
              </a:rPr>
              <a:t>印刷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9FE03D-7073-4EF0-ABCD-D4BB3A374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143375"/>
            <a:ext cx="6572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今開いている顧客カードを紙で確認できます。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5BE674-4787-4CAA-BD45-A888A0AA8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86375"/>
            <a:ext cx="9239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DBA7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A6AD40-D805-44B2-BD22-B8716EBE3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448300"/>
            <a:ext cx="8763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9A341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9A3412"/>
                </a:solidFill>
                <a:latin typeface="Aptos"/>
                <a:ea typeface="Aptos"/>
                <a:cs typeface="Aptos"/>
              </a:rPr>
              <a:t>おすすめ: 普段はアプリで入力し、月1回Excel出力して分析テンプレートに貼り付けます。顧客別の優先順位を見やすくできます。</a:t>
            </a:r>
          </a:p>
        </p:txBody>
      </p:sp>
    </p:spTree>
    <p:extLst>
      <p:ext uri="{BB962C8B-B14F-4D97-AF65-F5344CB8AC3E}">
        <p14:creationId xmlns:p14="http://schemas.microsoft.com/office/powerpoint/2010/main" val="8407468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7171F07-A9C4-481C-B12F-C958A3241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313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5313A"/>
                </a:solidFill>
                <a:latin typeface="Aptos Display"/>
                <a:ea typeface="Aptos Display"/>
                <a:cs typeface="Aptos Display"/>
              </a:rPr>
              <a:t>入力するときの注意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C07721-FC6B-4EDC-99B1-846027FBA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38250"/>
            <a:ext cx="857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13A"/>
          </a:solidFill>
          <a:ln xmlns:a="http://schemas.openxmlformats.org/drawingml/2006/main" w="0">
            <a:solidFill>
              <a:srgbClr val="15313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8011D5-AC2C-4B13-AE05-725C59CB3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43025"/>
            <a:ext cx="857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60B34B-E2BA-4F4B-898E-0E2163A61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238250"/>
            <a:ext cx="3238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5313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5313A"/>
                </a:solidFill>
                <a:latin typeface="Aptos"/>
                <a:ea typeface="Aptos"/>
                <a:cs typeface="Aptos"/>
              </a:rPr>
              <a:t>実名入力は慎重に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1277EF-28B3-4682-94A2-F0BD48E4F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638300"/>
            <a:ext cx="8191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顧客名や担当者名は業務情報です。社内ルールに従って扱います。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31AABA-AF3F-4A3A-B72F-545AC966B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86000"/>
            <a:ext cx="857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13A"/>
          </a:solidFill>
          <a:ln xmlns:a="http://schemas.openxmlformats.org/drawingml/2006/main" w="0">
            <a:solidFill>
              <a:srgbClr val="15313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D7749F-A1C7-419F-8405-21F4D97C7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90775"/>
            <a:ext cx="857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38B124-108F-4249-8B69-AE110F66E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286000"/>
            <a:ext cx="3238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5313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5313A"/>
                </a:solidFill>
                <a:latin typeface="Aptos"/>
                <a:ea typeface="Aptos"/>
                <a:cs typeface="Aptos"/>
              </a:rPr>
              <a:t>分からない時は不明でよい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71ADEC-3E5E-43AC-A06D-DAC28959B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686050"/>
            <a:ext cx="8191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無理に埋めるより、分からない項目は不明のまま残します。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C40E09-BCEF-4385-B725-B99809F22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857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13A"/>
          </a:solidFill>
          <a:ln xmlns:a="http://schemas.openxmlformats.org/drawingml/2006/main" w="0">
            <a:solidFill>
              <a:srgbClr val="15313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9A70E8-C198-49BE-A087-BA3833B7D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38525"/>
            <a:ext cx="857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01D3D8-CCE6-43B3-AAB9-269500AFF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333750"/>
            <a:ext cx="3238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5313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5313A"/>
                </a:solidFill>
                <a:latin typeface="Aptos"/>
                <a:ea typeface="Aptos"/>
                <a:cs typeface="Aptos"/>
              </a:rPr>
              <a:t>A分類は少なめに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B5CA79-5B79-405C-82FB-D1262E4C8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733800"/>
            <a:ext cx="8191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Aは見積や調査に進める顧客です。迷ったらBにします。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097B91-261F-40E0-A41A-48520EEF5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0"/>
            <a:ext cx="857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13A"/>
          </a:solidFill>
          <a:ln xmlns:a="http://schemas.openxmlformats.org/drawingml/2006/main" w="0">
            <a:solidFill>
              <a:srgbClr val="15313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885483-2028-413A-90E9-CB3DCDCDB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86275"/>
            <a:ext cx="857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8C544E-EA99-49D3-80FF-B1B4FEE64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381500"/>
            <a:ext cx="3238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5313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5313A"/>
                </a:solidFill>
                <a:latin typeface="Aptos"/>
                <a:ea typeface="Aptos"/>
                <a:cs typeface="Aptos"/>
              </a:rPr>
              <a:t>証明書は自社で出さない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EC4330-24E1-4002-9F06-980F2F791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781550"/>
            <a:ext cx="8191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正式な分析証明が必要な場合は、登録済みの環境計量証明事業者と組みます。</a:t>
            </a:r>
          </a:p>
        </p:txBody>
      </p:sp>
    </p:spTree>
    <p:extLst>
      <p:ext uri="{BB962C8B-B14F-4D97-AF65-F5344CB8AC3E}">
        <p14:creationId xmlns:p14="http://schemas.microsoft.com/office/powerpoint/2010/main" val="184100170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7DED3BA-E2F7-4E21-A5FF-39FFC04C3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313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5313A"/>
                </a:solidFill>
                <a:latin typeface="Aptos Display"/>
                <a:ea typeface="Aptos Display"/>
                <a:cs typeface="Aptos Display"/>
              </a:rPr>
              <a:t>おすすめの運用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E2569B-7CE4-4B0C-8E92-C8CF262A4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905000"/>
            <a:ext cx="1571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F1"/>
          </a:solidFill>
          <a:ln xmlns:a="http://schemas.openxmlformats.org/drawingml/2006/main" w="19050">
            <a:solidFill>
              <a:srgbClr val="B9DDD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C4137F-3E44-476A-AEF7-94FAF3C9D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07645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初日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2201C7-8086-4DBF-B6CB-69D1C74D2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428875"/>
            <a:ext cx="133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5313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313A"/>
                </a:solidFill>
                <a:latin typeface="Aptos"/>
                <a:ea typeface="Aptos"/>
                <a:cs typeface="Aptos"/>
              </a:rPr>
              <a:t>ダミー顧客3件で練習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8FC16A-D20C-4230-9CA2-3E93735D4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295525"/>
            <a:ext cx="4381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94A3B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F332FB-EFA6-41EE-BF92-6059AF9DB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905000"/>
            <a:ext cx="1571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F1"/>
          </a:solidFill>
          <a:ln xmlns:a="http://schemas.openxmlformats.org/drawingml/2006/main" w="19050">
            <a:solidFill>
              <a:srgbClr val="B9DDD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C24766-5605-40BC-BE3B-C7D71AE25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07645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1週目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E89386-DAAB-452D-AE64-4C1717D23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428875"/>
            <a:ext cx="133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5313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313A"/>
                </a:solidFill>
                <a:latin typeface="Aptos"/>
                <a:ea typeface="Aptos"/>
                <a:cs typeface="Aptos"/>
              </a:rPr>
              <a:t>既存顧客5件を入力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6FB863-2CA5-4163-B654-729F06515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295525"/>
            <a:ext cx="4381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94A3B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EF0A7D-BB8C-49CF-9419-028B87DED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905000"/>
            <a:ext cx="1571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F1"/>
          </a:solidFill>
          <a:ln xmlns:a="http://schemas.openxmlformats.org/drawingml/2006/main" w="19050">
            <a:solidFill>
              <a:srgbClr val="B9DDD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0B0EC4-A97C-4573-AC5F-CA41C5B17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207645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2週目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6B10DA-2570-4888-9804-C0FE1F87E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2428875"/>
            <a:ext cx="133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5313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313A"/>
                </a:solidFill>
                <a:latin typeface="Aptos"/>
                <a:ea typeface="Aptos"/>
                <a:cs typeface="Aptos"/>
              </a:rPr>
              <a:t>A分類だけ見積や追加調査へ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394B5F-D85C-4759-BDE6-25EC444A2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295525"/>
            <a:ext cx="4381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94A3B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42AA71-643A-4020-A9A9-E08239B47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905000"/>
            <a:ext cx="1571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F1"/>
          </a:solidFill>
          <a:ln xmlns:a="http://schemas.openxmlformats.org/drawingml/2006/main" w="19050">
            <a:solidFill>
              <a:srgbClr val="B9DDD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DB69AB-1CD4-47DE-9F29-7863B65DC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07645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月末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4D48D6-4B2A-48CD-820B-05649D79B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428875"/>
            <a:ext cx="133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5313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313A"/>
                </a:solidFill>
                <a:latin typeface="Aptos"/>
                <a:ea typeface="Aptos"/>
                <a:cs typeface="Aptos"/>
              </a:rPr>
              <a:t>Excel出力してグラフ確認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CB74C2-BDD9-4F08-A7AE-BB7A0DBC4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295525"/>
            <a:ext cx="4381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94A3B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7591F7-784A-4061-8936-6DB2B9DF1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905000"/>
            <a:ext cx="1571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F1"/>
          </a:solidFill>
          <a:ln xmlns:a="http://schemas.openxmlformats.org/drawingml/2006/main" w="19050">
            <a:solidFill>
              <a:srgbClr val="B9DDD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34C748-14C7-4854-8C91-86CDBFDE5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07645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翌月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8AB7FF-5B61-4CBA-AE76-5945E4842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428875"/>
            <a:ext cx="133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5313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313A"/>
                </a:solidFill>
                <a:latin typeface="Aptos"/>
                <a:ea typeface="Aptos"/>
                <a:cs typeface="Aptos"/>
              </a:rPr>
              <a:t>A/B/C分類を更新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9993DB-8669-4CB6-AC18-F063B79B4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000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5313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5313A"/>
                </a:solidFill>
                <a:latin typeface="Aptos"/>
                <a:ea typeface="Aptos"/>
                <a:cs typeface="Aptos"/>
              </a:rPr>
              <a:t>最初のゴールは、売上ではなく「どの顧客が本当に困っているか」を見つけることです。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1495A2-46F4-4E43-A11E-19CE901A5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62500"/>
            <a:ext cx="933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DBA7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74DF5A-BDB8-40BE-AC27-EEB6423CE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72050"/>
            <a:ext cx="876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9A341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9A3412"/>
                </a:solidFill>
                <a:latin typeface="Aptos"/>
                <a:ea typeface="Aptos"/>
                <a:cs typeface="Aptos"/>
              </a:rPr>
              <a:t>A分類が1件でも見つかれば、PFAS分析、脱水ケーキ調査、リン・窒素相談、薬品テストのどれかに進めます。</a:t>
            </a:r>
          </a:p>
        </p:txBody>
      </p:sp>
    </p:spTree>
    <p:extLst>
      <p:ext uri="{BB962C8B-B14F-4D97-AF65-F5344CB8AC3E}">
        <p14:creationId xmlns:p14="http://schemas.microsoft.com/office/powerpoint/2010/main" val="18275663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2026-05-11T09:36:24.1720000Z</dcterms:created>
  <dcterms:modified xsi:type="dcterms:W3CDTF">2026-05-11T09:36:24.1720000Z</dcterms:modified>
</coreProperties>
</file>